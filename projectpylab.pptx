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6" r:id="rId3"/>
    <p:sldId id="267" r:id="rId4"/>
    <p:sldId id="268" r:id="rId5"/>
    <p:sldId id="269" r:id="rId6"/>
    <p:sldId id="270" r:id="rId7"/>
    <p:sldId id="271" r:id="rId8"/>
    <p:sldId id="266" r:id="rId9"/>
  </p:sldIdLst>
  <p:sldSz cx="18288000" cy="10287000"/>
  <p:notesSz cx="6858000" cy="9144000"/>
  <p:embeddedFontLst>
    <p:embeddedFont>
      <p:font typeface="Alfa Slab On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mart gen" initials="sg" lastIdx="1" clrIdx="0">
    <p:extLst>
      <p:ext uri="{19B8F6BF-5375-455C-9EA6-DF929625EA0E}">
        <p15:presenceInfo xmlns:p15="http://schemas.microsoft.com/office/powerpoint/2012/main" userId="smart 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318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95887" y="7215016"/>
            <a:ext cx="3871095" cy="4086568"/>
          </a:xfrm>
          <a:custGeom>
            <a:avLst/>
            <a:gdLst/>
            <a:ahLst/>
            <a:cxnLst/>
            <a:rect l="l" t="t" r="r" b="b"/>
            <a:pathLst>
              <a:path w="3871095" h="4086568">
                <a:moveTo>
                  <a:pt x="0" y="0"/>
                </a:moveTo>
                <a:lnTo>
                  <a:pt x="3871095" y="0"/>
                </a:lnTo>
                <a:lnTo>
                  <a:pt x="3871095" y="4086568"/>
                </a:lnTo>
                <a:lnTo>
                  <a:pt x="0" y="4086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08788" y="3590576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0" y="0"/>
                </a:moveTo>
                <a:lnTo>
                  <a:pt x="4909198" y="0"/>
                </a:lnTo>
                <a:lnTo>
                  <a:pt x="49091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8319" y="3922830"/>
            <a:ext cx="1480762" cy="2438380"/>
          </a:xfrm>
          <a:custGeom>
            <a:avLst/>
            <a:gdLst/>
            <a:ahLst/>
            <a:cxnLst/>
            <a:rect l="l" t="t" r="r" b="b"/>
            <a:pathLst>
              <a:path w="1480762" h="2438380">
                <a:moveTo>
                  <a:pt x="0" y="0"/>
                </a:moveTo>
                <a:lnTo>
                  <a:pt x="1480762" y="0"/>
                </a:lnTo>
                <a:lnTo>
                  <a:pt x="1480762" y="2438380"/>
                </a:lnTo>
                <a:lnTo>
                  <a:pt x="0" y="2438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18252" y="-713173"/>
            <a:ext cx="3673394" cy="4114800"/>
          </a:xfrm>
          <a:custGeom>
            <a:avLst/>
            <a:gdLst/>
            <a:ahLst/>
            <a:cxnLst/>
            <a:rect l="l" t="t" r="r" b="b"/>
            <a:pathLst>
              <a:path w="3673394" h="4114800">
                <a:moveTo>
                  <a:pt x="0" y="0"/>
                </a:moveTo>
                <a:lnTo>
                  <a:pt x="3673394" y="0"/>
                </a:lnTo>
                <a:lnTo>
                  <a:pt x="36733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06202" y="-303250"/>
            <a:ext cx="6314370" cy="3294953"/>
          </a:xfrm>
          <a:custGeom>
            <a:avLst/>
            <a:gdLst/>
            <a:ahLst/>
            <a:cxnLst/>
            <a:rect l="l" t="t" r="r" b="b"/>
            <a:pathLst>
              <a:path w="6314370" h="3294953">
                <a:moveTo>
                  <a:pt x="0" y="0"/>
                </a:moveTo>
                <a:lnTo>
                  <a:pt x="6314370" y="0"/>
                </a:lnTo>
                <a:lnTo>
                  <a:pt x="6314370" y="3294953"/>
                </a:lnTo>
                <a:lnTo>
                  <a:pt x="0" y="32949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71509" y="8736987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0" y="0"/>
                </a:moveTo>
                <a:lnTo>
                  <a:pt x="4909197" y="0"/>
                </a:lnTo>
                <a:lnTo>
                  <a:pt x="49091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498290" y="7705376"/>
            <a:ext cx="4385930" cy="4114800"/>
          </a:xfrm>
          <a:custGeom>
            <a:avLst/>
            <a:gdLst/>
            <a:ahLst/>
            <a:cxnLst/>
            <a:rect l="l" t="t" r="r" b="b"/>
            <a:pathLst>
              <a:path w="4385930" h="4114800">
                <a:moveTo>
                  <a:pt x="0" y="0"/>
                </a:moveTo>
                <a:lnTo>
                  <a:pt x="4385931" y="0"/>
                </a:lnTo>
                <a:lnTo>
                  <a:pt x="43859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205792">
            <a:off x="3421982" y="-342055"/>
            <a:ext cx="3918036" cy="1510225"/>
          </a:xfrm>
          <a:custGeom>
            <a:avLst/>
            <a:gdLst/>
            <a:ahLst/>
            <a:cxnLst/>
            <a:rect l="l" t="t" r="r" b="b"/>
            <a:pathLst>
              <a:path w="3918036" h="1510225">
                <a:moveTo>
                  <a:pt x="0" y="0"/>
                </a:moveTo>
                <a:lnTo>
                  <a:pt x="3918036" y="0"/>
                </a:lnTo>
                <a:lnTo>
                  <a:pt x="3918036" y="1510225"/>
                </a:lnTo>
                <a:lnTo>
                  <a:pt x="0" y="15102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42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40816" y="1938195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Our Team</a:t>
            </a:r>
          </a:p>
        </p:txBody>
      </p:sp>
      <p:sp>
        <p:nvSpPr>
          <p:cNvPr id="11" name="Freeform 11"/>
          <p:cNvSpPr/>
          <p:nvPr/>
        </p:nvSpPr>
        <p:spPr>
          <a:xfrm>
            <a:off x="3281798" y="9130314"/>
            <a:ext cx="3918036" cy="1510225"/>
          </a:xfrm>
          <a:custGeom>
            <a:avLst/>
            <a:gdLst/>
            <a:ahLst/>
            <a:cxnLst/>
            <a:rect l="l" t="t" r="r" b="b"/>
            <a:pathLst>
              <a:path w="3918036" h="1510225">
                <a:moveTo>
                  <a:pt x="0" y="0"/>
                </a:moveTo>
                <a:lnTo>
                  <a:pt x="3918036" y="0"/>
                </a:lnTo>
                <a:lnTo>
                  <a:pt x="3918036" y="1510225"/>
                </a:lnTo>
                <a:lnTo>
                  <a:pt x="0" y="15102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42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43783" y="4009815"/>
            <a:ext cx="10312360" cy="2235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3"/>
              </a:lnSpc>
              <a:spcBef>
                <a:spcPct val="0"/>
              </a:spcBef>
            </a:pPr>
            <a:r>
              <a:rPr lang="en-US" sz="6366" dirty="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2-Hussein Jaffer</a:t>
            </a:r>
          </a:p>
          <a:p>
            <a:pPr algn="ctr">
              <a:lnSpc>
                <a:spcPts val="8913"/>
              </a:lnSpc>
              <a:spcBef>
                <a:spcPct val="0"/>
              </a:spcBef>
            </a:pPr>
            <a:r>
              <a:rPr lang="en-US" sz="6366" dirty="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3- hamza </a:t>
            </a:r>
            <a:r>
              <a:rPr lang="en-US" sz="6366" dirty="0" err="1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ahmed</a:t>
            </a:r>
            <a:endParaRPr lang="en-US" sz="6366" dirty="0">
              <a:solidFill>
                <a:srgbClr val="FFFFFF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843783" y="2970142"/>
            <a:ext cx="10213420" cy="109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5"/>
              </a:lnSpc>
              <a:spcBef>
                <a:spcPct val="0"/>
              </a:spcBef>
            </a:pPr>
            <a:r>
              <a:rPr lang="en-US" sz="6346" dirty="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1-Hussein Adel Jawad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14300"/>
            <a:ext cx="18288000" cy="13519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4"/>
              </a:lnSpc>
            </a:pPr>
            <a:r>
              <a:rPr lang="en-US" sz="3200" b="1" dirty="0">
                <a:solidFill>
                  <a:schemeClr val="bg1"/>
                </a:solidFill>
              </a:rPr>
              <a:t>Objective:</a:t>
            </a:r>
          </a:p>
          <a:p>
            <a:pPr>
              <a:lnSpc>
                <a:spcPts val="8884"/>
              </a:lnSpc>
            </a:pPr>
            <a:r>
              <a:rPr lang="en-US" sz="3200" dirty="0">
                <a:solidFill>
                  <a:schemeClr val="bg1"/>
                </a:solidFill>
              </a:rPr>
              <a:t> To build, train, and deploy a machine learning model that can identify numbers (0-9) from images.</a:t>
            </a:r>
          </a:p>
          <a:p>
            <a:pPr>
              <a:lnSpc>
                <a:spcPts val="8884"/>
              </a:lnSpc>
            </a:pPr>
            <a:r>
              <a:rPr lang="en-US" sz="3200" b="1" dirty="0">
                <a:solidFill>
                  <a:schemeClr val="bg1"/>
                </a:solidFill>
              </a:rPr>
              <a:t>Dataset: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MNIST</a:t>
            </a:r>
          </a:p>
          <a:p>
            <a:pPr>
              <a:lnSpc>
                <a:spcPts val="8884"/>
              </a:lnSpc>
            </a:pPr>
            <a:r>
              <a:rPr lang="en-US" sz="3200" dirty="0">
                <a:solidFill>
                  <a:schemeClr val="bg1"/>
                </a:solidFill>
              </a:rPr>
              <a:t> the industry standard for computer vision, containing 70,000 grayscale images of handwritten digits.</a:t>
            </a:r>
          </a:p>
          <a:p>
            <a:pPr>
              <a:lnSpc>
                <a:spcPts val="8884"/>
              </a:lnSpc>
            </a:pPr>
            <a:r>
              <a:rPr lang="en-US" sz="3200" b="1" dirty="0">
                <a:solidFill>
                  <a:schemeClr val="bg1"/>
                </a:solidFill>
              </a:rPr>
              <a:t>Key Technology: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ts val="8884"/>
              </a:lnSpc>
            </a:pPr>
            <a:r>
              <a:rPr lang="en-US" sz="3200" dirty="0">
                <a:solidFill>
                  <a:schemeClr val="bg1"/>
                </a:solidFill>
              </a:rPr>
              <a:t>TensorFlow/</a:t>
            </a:r>
            <a:r>
              <a:rPr lang="en-US" sz="3200" dirty="0" err="1">
                <a:solidFill>
                  <a:schemeClr val="bg1"/>
                </a:solidFill>
              </a:rPr>
              <a:t>Keras</a:t>
            </a:r>
            <a:r>
              <a:rPr lang="en-US" sz="3200" dirty="0">
                <a:solidFill>
                  <a:schemeClr val="bg1"/>
                </a:solidFill>
              </a:rPr>
              <a:t> for the model, and Matplotlib for visualization.</a:t>
            </a:r>
          </a:p>
          <a:p>
            <a:pPr>
              <a:lnSpc>
                <a:spcPts val="8884"/>
              </a:lnSpc>
            </a:pPr>
            <a:endParaRPr lang="en-US" sz="3200" b="1" dirty="0">
              <a:solidFill>
                <a:schemeClr val="bg1"/>
              </a:solidFill>
            </a:endParaRPr>
          </a:p>
          <a:p>
            <a:pPr algn="ctr">
              <a:lnSpc>
                <a:spcPts val="8884"/>
              </a:lnSpc>
            </a:pPr>
            <a:endParaRPr lang="en-US" sz="3200" b="1" dirty="0">
              <a:solidFill>
                <a:schemeClr val="bg1"/>
              </a:solidFill>
            </a:endParaRPr>
          </a:p>
          <a:p>
            <a:pPr algn="ctr">
              <a:lnSpc>
                <a:spcPts val="8884"/>
              </a:lnSpc>
            </a:pPr>
            <a:endParaRPr lang="en-US" sz="3200" b="1" dirty="0">
              <a:solidFill>
                <a:schemeClr val="bg1"/>
              </a:solidFill>
            </a:endParaRPr>
          </a:p>
          <a:p>
            <a:pPr algn="ctr">
              <a:lnSpc>
                <a:spcPts val="8884"/>
              </a:lnSpc>
            </a:pPr>
            <a:endParaRPr lang="en-US" sz="3200" b="1" dirty="0">
              <a:solidFill>
                <a:schemeClr val="bg1"/>
              </a:solidFill>
            </a:endParaRPr>
          </a:p>
          <a:p>
            <a:pPr algn="ctr">
              <a:lnSpc>
                <a:spcPts val="8884"/>
              </a:lnSpc>
            </a:pPr>
            <a:endParaRPr lang="en-US" sz="3200" b="1" dirty="0">
              <a:solidFill>
                <a:schemeClr val="bg1"/>
              </a:solidFill>
            </a:endParaRPr>
          </a:p>
          <a:p>
            <a:pPr algn="ctr">
              <a:lnSpc>
                <a:spcPts val="8884"/>
              </a:lnSpc>
            </a:pP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D0131-D7B0-FAF9-FB0A-EBC557A06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F6BE4FA-3EC7-308D-EB4B-80A87A5EA31F}"/>
              </a:ext>
            </a:extLst>
          </p:cNvPr>
          <p:cNvSpPr txBox="1"/>
          <p:nvPr/>
        </p:nvSpPr>
        <p:spPr>
          <a:xfrm>
            <a:off x="1676400" y="114300"/>
            <a:ext cx="14554199" cy="2220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4"/>
              </a:lnSpc>
            </a:pPr>
            <a:endParaRPr lang="en-US" sz="6600" b="1" dirty="0"/>
          </a:p>
          <a:p>
            <a:pPr algn="ctr">
              <a:lnSpc>
                <a:spcPts val="8884"/>
              </a:lnSpc>
            </a:pPr>
            <a:endParaRPr lang="en-US" sz="6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7A765-E54C-A9EA-32A5-4FBE8392B4F0}"/>
              </a:ext>
            </a:extLst>
          </p:cNvPr>
          <p:cNvSpPr txBox="1"/>
          <p:nvPr/>
        </p:nvSpPr>
        <p:spPr>
          <a:xfrm>
            <a:off x="0" y="0"/>
            <a:ext cx="18440400" cy="1074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Preparing the Data for the Brain</a:t>
            </a: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Normalization:</a:t>
            </a:r>
          </a:p>
          <a:p>
            <a:r>
              <a:rPr lang="en-US" sz="3200" dirty="0">
                <a:solidFill>
                  <a:schemeClr val="bg1"/>
                </a:solidFill>
              </a:rPr>
              <a:t> Pixel values are scaled from </a:t>
            </a:r>
            <a:r>
              <a:rPr lang="en-US" sz="3200" b="1" dirty="0">
                <a:solidFill>
                  <a:schemeClr val="bg1"/>
                </a:solidFill>
              </a:rPr>
              <a:t>0-255</a:t>
            </a:r>
            <a:r>
              <a:rPr lang="en-US" sz="3200" dirty="0">
                <a:solidFill>
                  <a:schemeClr val="bg1"/>
                </a:solidFill>
              </a:rPr>
              <a:t> to </a:t>
            </a:r>
            <a:r>
              <a:rPr lang="en-US" sz="3200" b="1" dirty="0">
                <a:solidFill>
                  <a:schemeClr val="bg1"/>
                </a:solidFill>
              </a:rPr>
              <a:t>0-1</a:t>
            </a:r>
            <a:r>
              <a:rPr lang="en-US" sz="3200" dirty="0">
                <a:solidFill>
                  <a:schemeClr val="bg1"/>
                </a:solidFill>
              </a:rPr>
              <a:t>. This helps the neural network learn faster by keeping input values small.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altLang="en-US" sz="3600" b="1" dirty="0">
                <a:solidFill>
                  <a:schemeClr val="bg1"/>
                </a:solidFill>
                <a:latin typeface="Google Sans Text"/>
              </a:rPr>
              <a:t>Reshaping:</a:t>
            </a:r>
          </a:p>
          <a:p>
            <a:r>
              <a:rPr lang="en-US" altLang="en-US" sz="3200" dirty="0">
                <a:solidFill>
                  <a:schemeClr val="bg1"/>
                </a:solidFill>
              </a:rPr>
              <a:t> Images are converted into a 4D shape </a:t>
            </a:r>
            <a:r>
              <a:rPr lang="en-US" altLang="en-US" sz="3200" dirty="0">
                <a:solidFill>
                  <a:schemeClr val="bg1"/>
                </a:solidFill>
                <a:latin typeface="Google Sans Text"/>
              </a:rPr>
              <a:t>$(Samples, 28, 28, 1)$</a:t>
            </a:r>
            <a:r>
              <a:rPr lang="en-US" altLang="en-US" sz="3200" dirty="0">
                <a:solidFill>
                  <a:schemeClr val="bg1"/>
                </a:solidFill>
              </a:rPr>
              <a:t> to fit the requirements of a Convolutional layer.</a:t>
            </a:r>
          </a:p>
          <a:p>
            <a:endParaRPr lang="en-US" altLang="en-US" sz="32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Data Augmentation: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The code uses </a:t>
            </a:r>
            <a:r>
              <a:rPr lang="en-US" sz="3200" dirty="0" err="1">
                <a:solidFill>
                  <a:schemeClr val="bg1"/>
                </a:solidFill>
              </a:rPr>
              <a:t>ImageDataGenerator</a:t>
            </a:r>
            <a:r>
              <a:rPr lang="en-US" sz="3200" dirty="0">
                <a:solidFill>
                  <a:schemeClr val="bg1"/>
                </a:solidFill>
              </a:rPr>
              <a:t> to artificially create more training data by: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altLang="en-US" sz="3200" b="1" dirty="0">
                <a:latin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-Rotating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 images by 10°.</a:t>
            </a:r>
          </a:p>
          <a:p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 -Zooming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 in/out slightly.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 -Shifting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 images horizontally and vertically.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i="1" dirty="0">
                <a:solidFill>
                  <a:schemeClr val="bg1"/>
                </a:solidFill>
                <a:latin typeface="Arial" panose="020B0604020202020204" pitchFamily="34" charset="0"/>
              </a:rPr>
              <a:t> -</a:t>
            </a:r>
            <a:r>
              <a:rPr lang="en-US" altLang="en-US" sz="3200" b="1" i="1" dirty="0">
                <a:solidFill>
                  <a:schemeClr val="bg1"/>
                </a:solidFill>
                <a:latin typeface="Arial" panose="020B0604020202020204" pitchFamily="34" charset="0"/>
              </a:rPr>
              <a:t>Benefit: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 This makes the model more robust to messy handwriting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D79EB-C525-295F-4783-85A10FF8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F58B117-36F7-395F-734C-74631CC9578D}"/>
              </a:ext>
            </a:extLst>
          </p:cNvPr>
          <p:cNvSpPr txBox="1"/>
          <p:nvPr/>
        </p:nvSpPr>
        <p:spPr>
          <a:xfrm>
            <a:off x="1676400" y="114300"/>
            <a:ext cx="14554199" cy="2220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4"/>
              </a:lnSpc>
            </a:pPr>
            <a:endParaRPr lang="en-US" sz="6600" b="1" dirty="0"/>
          </a:p>
          <a:p>
            <a:pPr algn="ctr">
              <a:lnSpc>
                <a:spcPts val="8884"/>
              </a:lnSpc>
            </a:pPr>
            <a:endParaRPr lang="en-US" sz="6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CF658-FC2B-AF35-3510-2DD4408BF333}"/>
              </a:ext>
            </a:extLst>
          </p:cNvPr>
          <p:cNvSpPr txBox="1"/>
          <p:nvPr/>
        </p:nvSpPr>
        <p:spPr>
          <a:xfrm>
            <a:off x="14514" y="0"/>
            <a:ext cx="18288000" cy="13757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Inside the Neural Network</a:t>
            </a: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The model is a </a:t>
            </a:r>
            <a:r>
              <a:rPr lang="en-US" sz="3600" b="1" dirty="0">
                <a:solidFill>
                  <a:schemeClr val="bg1"/>
                </a:solidFill>
              </a:rPr>
              <a:t>Sequential CNN</a:t>
            </a:r>
            <a:r>
              <a:rPr lang="en-US" sz="3600" dirty="0">
                <a:solidFill>
                  <a:schemeClr val="bg1"/>
                </a:solidFill>
              </a:rPr>
              <a:t> consisting of three main stages: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1-Feature Extraction: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-Conv2D Layers:</a:t>
            </a:r>
            <a:r>
              <a:rPr lang="en-US" sz="3200" dirty="0">
                <a:solidFill>
                  <a:schemeClr val="bg1"/>
                </a:solidFill>
              </a:rPr>
              <a:t> Scan the image for edges, curves, and patterns.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-</a:t>
            </a:r>
            <a:r>
              <a:rPr lang="en-US" sz="3200" b="1" dirty="0" err="1">
                <a:solidFill>
                  <a:schemeClr val="bg1"/>
                </a:solidFill>
              </a:rPr>
              <a:t>BatchNormalization</a:t>
            </a:r>
            <a:r>
              <a:rPr lang="en-US" sz="3200" b="1" dirty="0">
                <a:solidFill>
                  <a:schemeClr val="bg1"/>
                </a:solidFill>
              </a:rPr>
              <a:t>:</a:t>
            </a:r>
            <a:r>
              <a:rPr lang="en-US" sz="3200" dirty="0">
                <a:solidFill>
                  <a:schemeClr val="bg1"/>
                </a:solidFill>
              </a:rPr>
              <a:t> Stabilizes the learning process and speeds up training.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-</a:t>
            </a:r>
            <a:r>
              <a:rPr lang="en-US" sz="3200" b="1" dirty="0" err="1">
                <a:solidFill>
                  <a:schemeClr val="bg1"/>
                </a:solidFill>
              </a:rPr>
              <a:t>MaxPooling</a:t>
            </a:r>
            <a:r>
              <a:rPr lang="en-US" sz="3200" b="1" dirty="0">
                <a:solidFill>
                  <a:schemeClr val="bg1"/>
                </a:solidFill>
              </a:rPr>
              <a:t>:</a:t>
            </a:r>
            <a:r>
              <a:rPr lang="en-US" sz="3200" dirty="0">
                <a:solidFill>
                  <a:schemeClr val="bg1"/>
                </a:solidFill>
              </a:rPr>
              <a:t> Shrinks the image size to focus on the most important features.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2-The Classifier: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- </a:t>
            </a:r>
            <a:r>
              <a:rPr lang="en-US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Flatten: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Turns the 2D feature maps into a 1D vector.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 -Dense (256 units):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A fully connected layer that interprets the features.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 -Dropout (0.5):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Randomly "turns off" 50% of neurons to prevent </a:t>
            </a:r>
            <a:r>
              <a:rPr lang="en-US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overfitting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(memorization).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3-The Output: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-</a:t>
            </a:r>
            <a:r>
              <a:rPr lang="en-US" sz="2800" b="1" dirty="0" err="1">
                <a:solidFill>
                  <a:schemeClr val="bg1"/>
                </a:solidFill>
              </a:rPr>
              <a:t>Softmax</a:t>
            </a:r>
            <a:r>
              <a:rPr lang="en-US" sz="2800" b="1" dirty="0">
                <a:solidFill>
                  <a:schemeClr val="bg1"/>
                </a:solidFill>
              </a:rPr>
              <a:t> Layer:</a:t>
            </a:r>
            <a:r>
              <a:rPr lang="en-US" sz="2800" dirty="0">
                <a:solidFill>
                  <a:schemeClr val="bg1"/>
                </a:solidFill>
              </a:rPr>
              <a:t> 10 neurons (one for each digit 0-9) providing a probability score.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  <a:p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3913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09832-AAC4-4A5D-FE12-B693AF5B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B92EE95-F724-3794-727C-8B2C67CC643C}"/>
              </a:ext>
            </a:extLst>
          </p:cNvPr>
          <p:cNvSpPr txBox="1"/>
          <p:nvPr/>
        </p:nvSpPr>
        <p:spPr>
          <a:xfrm>
            <a:off x="1676400" y="114300"/>
            <a:ext cx="14554199" cy="2220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4"/>
              </a:lnSpc>
            </a:pPr>
            <a:endParaRPr lang="en-US" sz="6600" b="1" dirty="0"/>
          </a:p>
          <a:p>
            <a:pPr algn="ctr">
              <a:lnSpc>
                <a:spcPts val="8884"/>
              </a:lnSpc>
            </a:pPr>
            <a:endParaRPr lang="en-US" sz="6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C626B-89B2-006B-710A-CE7C1B15550D}"/>
              </a:ext>
            </a:extLst>
          </p:cNvPr>
          <p:cNvSpPr txBox="1"/>
          <p:nvPr/>
        </p:nvSpPr>
        <p:spPr>
          <a:xfrm>
            <a:off x="14514" y="0"/>
            <a:ext cx="18288000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Optimization and Training</a:t>
            </a: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 Optimizer:</a:t>
            </a:r>
          </a:p>
          <a:p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Adam</a:t>
            </a:r>
            <a:r>
              <a:rPr lang="en-US" sz="3200" dirty="0">
                <a:solidFill>
                  <a:schemeClr val="bg1"/>
                </a:solidFill>
              </a:rPr>
              <a:t> (Adaptive Moment Estimation), a popular algorithm that adjusts learning rates automatically.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Loss Function: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dirty="0" err="1">
                <a:solidFill>
                  <a:schemeClr val="bg1"/>
                </a:solidFill>
              </a:rPr>
              <a:t>sparse_categorical_crossentropy</a:t>
            </a:r>
            <a:r>
              <a:rPr lang="en-US" sz="3200" dirty="0">
                <a:solidFill>
                  <a:schemeClr val="bg1"/>
                </a:solidFill>
              </a:rPr>
              <a:t> – used because we are classifying images into 10 distinct categories.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600" b="1" dirty="0" err="1">
                <a:solidFill>
                  <a:schemeClr val="bg1"/>
                </a:solidFill>
              </a:rPr>
              <a:t>ModelCheckpoint</a:t>
            </a:r>
            <a:r>
              <a:rPr lang="en-US" sz="3600" b="1" dirty="0">
                <a:solidFill>
                  <a:schemeClr val="bg1"/>
                </a:solidFill>
              </a:rPr>
              <a:t>:</a:t>
            </a:r>
          </a:p>
          <a:p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Automatically saves the "Best Version" of the model so we don't lose progress.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600" b="1" dirty="0" err="1">
                <a:solidFill>
                  <a:schemeClr val="bg1"/>
                </a:solidFill>
              </a:rPr>
              <a:t>EarlyStopping</a:t>
            </a:r>
            <a:r>
              <a:rPr lang="en-US" sz="3600" b="1" dirty="0">
                <a:solidFill>
                  <a:schemeClr val="bg1"/>
                </a:solidFill>
              </a:rPr>
              <a:t>: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dirty="0">
                <a:solidFill>
                  <a:schemeClr val="bg1"/>
                </a:solidFill>
              </a:rPr>
              <a:t>Stops training if the model stops improving, saving time and computing power.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6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5C8A8-9453-8EBF-D8EA-D477863F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DBBD825-3D81-3493-1A20-7F038736AC95}"/>
              </a:ext>
            </a:extLst>
          </p:cNvPr>
          <p:cNvSpPr txBox="1"/>
          <p:nvPr/>
        </p:nvSpPr>
        <p:spPr>
          <a:xfrm>
            <a:off x="1676400" y="114300"/>
            <a:ext cx="14554199" cy="2220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4"/>
              </a:lnSpc>
            </a:pPr>
            <a:endParaRPr lang="en-US" sz="6600" b="1" dirty="0"/>
          </a:p>
          <a:p>
            <a:pPr algn="ctr">
              <a:lnSpc>
                <a:spcPts val="8884"/>
              </a:lnSpc>
            </a:pPr>
            <a:endParaRPr lang="en-US" sz="6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7D704-CDD4-DB79-F286-F5DDBAC95ACB}"/>
              </a:ext>
            </a:extLst>
          </p:cNvPr>
          <p:cNvSpPr txBox="1"/>
          <p:nvPr/>
        </p:nvSpPr>
        <p:spPr>
          <a:xfrm>
            <a:off x="14514" y="0"/>
            <a:ext cx="182880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Putting the Model to Work</a:t>
            </a: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Inference Loop:</a:t>
            </a:r>
          </a:p>
          <a:p>
            <a:r>
              <a:rPr lang="en-US" sz="3200" dirty="0">
                <a:solidFill>
                  <a:schemeClr val="bg1"/>
                </a:solidFill>
              </a:rPr>
              <a:t> The code includes an interactive loop where users can provide a path to a custom image.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Super Preprocessing:</a:t>
            </a:r>
          </a:p>
          <a:p>
            <a:r>
              <a:rPr lang="en-US" sz="3200" dirty="0">
                <a:solidFill>
                  <a:schemeClr val="bg1"/>
                </a:solidFill>
              </a:rPr>
              <a:t> Custom images (like a PNG you draw) are: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1- Converted to Grayscale.</a:t>
            </a:r>
          </a:p>
          <a:p>
            <a:r>
              <a:rPr lang="en-US" sz="3200" dirty="0">
                <a:solidFill>
                  <a:schemeClr val="bg1"/>
                </a:solidFill>
              </a:rPr>
              <a:t>2- 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Resized to </a:t>
            </a:r>
            <a:r>
              <a:rPr lang="en-US" altLang="en-US" sz="3200" dirty="0">
                <a:solidFill>
                  <a:schemeClr val="bg1"/>
                </a:solidFill>
                <a:latin typeface="Google Sans Text"/>
              </a:rPr>
              <a:t>28*28</a:t>
            </a:r>
            <a:r>
              <a:rPr lang="en-US" altLang="en-US" sz="32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</a:rPr>
              <a:t>3- </a:t>
            </a:r>
            <a:r>
              <a:rPr lang="en-US" sz="3200" b="1" dirty="0">
                <a:solidFill>
                  <a:schemeClr val="bg1"/>
                </a:solidFill>
              </a:rPr>
              <a:t>Inverted</a:t>
            </a:r>
            <a:r>
              <a:rPr lang="en-US" sz="3200" dirty="0">
                <a:solidFill>
                  <a:schemeClr val="bg1"/>
                </a:solidFill>
              </a:rPr>
              <a:t> (because MNIST expects white digits on a black background).</a:t>
            </a:r>
          </a:p>
          <a:p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Visualization</a:t>
            </a:r>
            <a:r>
              <a:rPr lang="en-US" sz="3200" b="1" dirty="0">
                <a:solidFill>
                  <a:schemeClr val="bg1"/>
                </a:solidFill>
              </a:rPr>
              <a:t>: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The code displays the processed image alongside a </a:t>
            </a:r>
            <a:r>
              <a:rPr lang="en-US" sz="3200" b="1" dirty="0">
                <a:solidFill>
                  <a:schemeClr val="bg1"/>
                </a:solidFill>
              </a:rPr>
              <a:t>Bar Chart</a:t>
            </a:r>
            <a:r>
              <a:rPr lang="en-US" sz="3200" dirty="0">
                <a:solidFill>
                  <a:schemeClr val="bg1"/>
                </a:solidFill>
              </a:rPr>
              <a:t> showing the model's confidence for each digit.</a:t>
            </a:r>
          </a:p>
        </p:txBody>
      </p:sp>
    </p:spTree>
    <p:extLst>
      <p:ext uri="{BB962C8B-B14F-4D97-AF65-F5344CB8AC3E}">
        <p14:creationId xmlns:p14="http://schemas.microsoft.com/office/powerpoint/2010/main" val="242902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74D21-C39D-0F43-3707-EC067CE0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0126E84-49A9-EAFF-3101-F47836B570EA}"/>
              </a:ext>
            </a:extLst>
          </p:cNvPr>
          <p:cNvSpPr txBox="1"/>
          <p:nvPr/>
        </p:nvSpPr>
        <p:spPr>
          <a:xfrm>
            <a:off x="1676400" y="114300"/>
            <a:ext cx="14554199" cy="2220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4"/>
              </a:lnSpc>
            </a:pPr>
            <a:endParaRPr lang="en-US" sz="6600" b="1" dirty="0"/>
          </a:p>
          <a:p>
            <a:pPr algn="ctr">
              <a:lnSpc>
                <a:spcPts val="8884"/>
              </a:lnSpc>
            </a:pPr>
            <a:endParaRPr lang="en-US" sz="6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63186-575B-48D5-645E-652AA8A88943}"/>
              </a:ext>
            </a:extLst>
          </p:cNvPr>
          <p:cNvSpPr txBox="1"/>
          <p:nvPr/>
        </p:nvSpPr>
        <p:spPr>
          <a:xfrm>
            <a:off x="14514" y="0"/>
            <a:ext cx="18288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Results &amp; Summary</a:t>
            </a: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r>
              <a:rPr lang="en-US" altLang="en-US" sz="3600" b="1" dirty="0">
                <a:solidFill>
                  <a:schemeClr val="bg1"/>
                </a:solidFill>
                <a:latin typeface="Google Sans Text"/>
              </a:rPr>
              <a:t>Accuracy:</a:t>
            </a:r>
          </a:p>
          <a:p>
            <a:r>
              <a:rPr lang="en-US" altLang="en-US" sz="3200" dirty="0">
                <a:solidFill>
                  <a:schemeClr val="bg1"/>
                </a:solidFill>
              </a:rPr>
              <a:t> The model aims for high accuracy (typically </a:t>
            </a:r>
            <a:r>
              <a:rPr lang="en-US" altLang="en-US" sz="3200" dirty="0">
                <a:solidFill>
                  <a:schemeClr val="bg1"/>
                </a:solidFill>
                <a:latin typeface="Google Sans Text"/>
              </a:rPr>
              <a:t>&gt; 99%</a:t>
            </a:r>
            <a:r>
              <a:rPr lang="en-US" altLang="en-US" sz="3200" dirty="0">
                <a:solidFill>
                  <a:schemeClr val="bg1"/>
                </a:solidFill>
              </a:rPr>
              <a:t> on MNIST).</a:t>
            </a:r>
          </a:p>
          <a:p>
            <a:endParaRPr lang="en-US" altLang="en-US" sz="3200" dirty="0">
              <a:solidFill>
                <a:schemeClr val="bg1"/>
              </a:solidFill>
            </a:endParaRPr>
          </a:p>
          <a:p>
            <a:endParaRPr lang="en-US" altLang="en-US" sz="32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Robustness:</a:t>
            </a:r>
          </a:p>
          <a:p>
            <a:r>
              <a:rPr lang="en-US" sz="3200" dirty="0">
                <a:solidFill>
                  <a:schemeClr val="bg1"/>
                </a:solidFill>
              </a:rPr>
              <a:t> Thanks to Data Augmentation and Dropout, the model generalizes well to new, unseen handwriting.</a:t>
            </a: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Deployment Ready:</a:t>
            </a:r>
          </a:p>
          <a:p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The </a:t>
            </a:r>
            <a:r>
              <a:rPr lang="en-US" sz="3200" dirty="0" err="1">
                <a:solidFill>
                  <a:schemeClr val="bg1"/>
                </a:solidFill>
              </a:rPr>
              <a:t>best_model.keras</a:t>
            </a:r>
            <a:r>
              <a:rPr lang="en-US" sz="3200" dirty="0">
                <a:solidFill>
                  <a:schemeClr val="bg1"/>
                </a:solidFill>
              </a:rPr>
              <a:t> file can be loaded into other applications for real-time digit recognition.</a:t>
            </a:r>
          </a:p>
        </p:txBody>
      </p:sp>
    </p:spTree>
    <p:extLst>
      <p:ext uri="{BB962C8B-B14F-4D97-AF65-F5344CB8AC3E}">
        <p14:creationId xmlns:p14="http://schemas.microsoft.com/office/powerpoint/2010/main" val="243909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3061837"/>
            <a:ext cx="11482787" cy="455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FEF6F3"/>
                </a:solidFill>
                <a:latin typeface="Alfa Slab One"/>
                <a:ea typeface="Alfa Slab One"/>
                <a:cs typeface="Alfa Slab One"/>
                <a:sym typeface="Alfa Slab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538</Words>
  <Application>Microsoft Office PowerPoint</Application>
  <PresentationFormat>Custom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Alfa Slab One</vt:lpstr>
      <vt:lpstr>Google Sans Text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Laplace transform in control systems</dc:title>
  <dc:creator>VICTUS</dc:creator>
  <cp:lastModifiedBy>smart gen</cp:lastModifiedBy>
  <cp:revision>4</cp:revision>
  <dcterms:created xsi:type="dcterms:W3CDTF">2006-08-16T00:00:00Z</dcterms:created>
  <dcterms:modified xsi:type="dcterms:W3CDTF">2025-12-11T20:32:04Z</dcterms:modified>
  <dc:identifier>DAG5pLmI-xU</dc:identifier>
</cp:coreProperties>
</file>